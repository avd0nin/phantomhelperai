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орис Возлеев" initials="БВ" lastIdx="1" clrIdx="0">
    <p:extLst>
      <p:ext uri="{19B8F6BF-5375-455C-9EA6-DF929625EA0E}">
        <p15:presenceInfo xmlns:p15="http://schemas.microsoft.com/office/powerpoint/2012/main" userId="136bacf799e46d1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945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19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61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95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0"/>
            <a:ext cx="3474720" cy="3474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8686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PhantomHelper AI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21792" y="1664208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AI-платформа для учебы: конспекты, чат, тесты и контесты в одном месте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583106" y="2543361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8357FF"/>
          </a:solidFill>
          <a:ln w="12700">
            <a:solidFill>
              <a:srgbClr val="835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Text 3"/>
          <p:cNvSpPr/>
          <p:nvPr/>
        </p:nvSpPr>
        <p:spPr>
          <a:xfrm>
            <a:off x="694944" y="2628900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ru-RU" sz="98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для</a:t>
            </a:r>
            <a:r>
              <a:rPr lang="en-US" sz="98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98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Лицея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21792" y="3703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35024" y="3858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Конспекты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2104" y="4325112"/>
            <a:ext cx="2093976" cy="0"/>
          </a:xfrm>
          <a:prstGeom prst="line">
            <a:avLst/>
          </a:prstGeom>
          <a:noFill/>
          <a:ln w="17780">
            <a:solidFill>
              <a:srgbClr val="835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443484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подробных материалов по предмету, классу и теме.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3337560" y="3703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38728" y="388620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50792" y="3858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AI-чат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547872" y="4325112"/>
            <a:ext cx="2093976" cy="0"/>
          </a:xfrm>
          <a:prstGeom prst="line">
            <a:avLst/>
          </a:prstGeom>
          <a:noFill/>
          <a:ln w="17780">
            <a:solidFill>
              <a:srgbClr val="4BA7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443484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сложные вопросы простым языком.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54187" y="5230368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41324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35024" y="53858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32104" y="5852160"/>
            <a:ext cx="2093976" cy="0"/>
          </a:xfrm>
          <a:prstGeom prst="line">
            <a:avLst/>
          </a:prstGeom>
          <a:noFill/>
          <a:ln w="17780">
            <a:solidFill>
              <a:srgbClr val="55E0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3561" y="597244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Самопроверка знаний с сохранением результата.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3337560" y="5230368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38728" y="541324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050792" y="53858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Контесты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3547872" y="5852160"/>
            <a:ext cx="2093976" cy="0"/>
          </a:xfrm>
          <a:prstGeom prst="line">
            <a:avLst/>
          </a:prstGeom>
          <a:noFill/>
          <a:ln w="17780">
            <a:solidFill>
              <a:srgbClr val="78E6B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57016" y="5972440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программирования с проверкой кода.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9DDB0751-9626-4ACF-AFB2-1D3863C043CF}"/>
              </a:ext>
            </a:extLst>
          </p:cNvPr>
          <p:cNvSpPr/>
          <p:nvPr/>
        </p:nvSpPr>
        <p:spPr>
          <a:xfrm>
            <a:off x="594360" y="2980944"/>
            <a:ext cx="3063240" cy="329184"/>
          </a:xfrm>
          <a:prstGeom prst="roundRect">
            <a:avLst>
              <a:gd name="adj" fmla="val 592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r>
              <a:rPr lang="ru-RU" sz="11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Авторы: Возлеев Борис и Авдонин Илья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06506C30-E616-EAAE-8CFA-521B36C96BC3}"/>
              </a:ext>
            </a:extLst>
          </p:cNvPr>
          <p:cNvSpPr/>
          <p:nvPr/>
        </p:nvSpPr>
        <p:spPr>
          <a:xfrm>
            <a:off x="339634" y="2629989"/>
            <a:ext cx="4380412" cy="2638698"/>
          </a:xfrm>
          <a:prstGeom prst="roundRect">
            <a:avLst>
              <a:gd name="adj" fmla="val 1633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39634" y="312264"/>
            <a:ext cx="117739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r>
              <a:rPr lang="en-US" sz="2800" b="1" dirty="0" err="1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r>
              <a:rPr lang="ru-RU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ru-RU" sz="29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делать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подготовку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к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учебе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простой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понятной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и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собранной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в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одном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месте</a:t>
            </a:r>
            <a:r>
              <a:rPr lang="en-US" sz="29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" y="6072923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5696" y="1389888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BC7E8"/>
                </a:solidFill>
                <a:latin typeface="Arial" pitchFamily="34" charset="0"/>
                <a:cs typeface="Arial" pitchFamily="34" charset="-120"/>
              </a:rPr>
              <a:t>PhantomHelper закрывает полный учебный цикл: изучить тему, задать вопросы, пройти тест и потренироваться </a:t>
            </a:r>
            <a:r>
              <a:rPr lang="en-US" sz="1500" dirty="0" err="1">
                <a:solidFill>
                  <a:srgbClr val="BBC7E8"/>
                </a:solidFill>
                <a:latin typeface="Arial" pitchFamily="34" charset="0"/>
                <a:cs typeface="Arial" pitchFamily="34" charset="-120"/>
              </a:rPr>
              <a:t>на</a:t>
            </a:r>
            <a:r>
              <a:rPr lang="en-US" sz="1500" dirty="0">
                <a:solidFill>
                  <a:srgbClr val="BBC7E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BBC7E8"/>
                </a:solidFill>
                <a:latin typeface="Arial" pitchFamily="34" charset="0"/>
                <a:cs typeface="Arial" pitchFamily="34" charset="-120"/>
              </a:rPr>
              <a:t>задача</a:t>
            </a:r>
            <a:r>
              <a:rPr lang="ru-RU" sz="1500" dirty="0">
                <a:solidFill>
                  <a:srgbClr val="BBC7E8"/>
                </a:solidFill>
                <a:latin typeface="Arial" pitchFamily="34" charset="0"/>
                <a:cs typeface="Arial" pitchFamily="34" charset="-120"/>
              </a:rPr>
              <a:t>х.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15696" y="2397035"/>
            <a:ext cx="3983301" cy="2952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среда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без переходов между разными сервисами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AI-наставник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помогает понять материал, а не просто выдает ответ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тесты и контесты сразу закрепляют тему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13376" y="1839312"/>
            <a:ext cx="7099227" cy="3628800"/>
          </a:xfrm>
          <a:prstGeom prst="roundRect">
            <a:avLst>
              <a:gd name="adj" fmla="val 2015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526AA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41837" y="557920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интерфейс главной страницы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138672" y="5888736"/>
            <a:ext cx="4572000" cy="329184"/>
          </a:xfrm>
          <a:prstGeom prst="roundRect">
            <a:avLst>
              <a:gd name="adj" fmla="val 22222"/>
            </a:avLst>
          </a:prstGeom>
          <a:solidFill>
            <a:srgbClr val="4BA7FF"/>
          </a:solidFill>
          <a:ln w="12700">
            <a:solidFill>
              <a:srgbClr val="4BA7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99632" y="5971032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Тёмный интерфейс • авторизация • личный кабинет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реализовано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 проекта — не одна фича, а связанная экосистема.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0174" y="1591056"/>
            <a:ext cx="3704626" cy="1598023"/>
          </a:xfrm>
          <a:prstGeom prst="roundRect">
            <a:avLst>
              <a:gd name="adj" fmla="val 551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1342" y="1978512"/>
            <a:ext cx="438706" cy="3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23406" y="1962342"/>
            <a:ext cx="2729724" cy="33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Генератор конспектов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485" y="2484991"/>
            <a:ext cx="3256171" cy="0"/>
          </a:xfrm>
          <a:prstGeom prst="line">
            <a:avLst/>
          </a:prstGeom>
          <a:noFill/>
          <a:ln w="17780">
            <a:solidFill>
              <a:srgbClr val="835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0485" y="2537693"/>
            <a:ext cx="3256171" cy="49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Создает структурированный HTML-конспект с определениями, правилами, примерами и типичными ошибками.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86646" y="1591056"/>
            <a:ext cx="3704626" cy="1598023"/>
          </a:xfrm>
          <a:prstGeom prst="roundRect">
            <a:avLst>
              <a:gd name="adj" fmla="val 551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7814" y="1978512"/>
            <a:ext cx="438706" cy="3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99878" y="1962342"/>
            <a:ext cx="2729724" cy="33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AI-чат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96957" y="2484991"/>
            <a:ext cx="3256171" cy="0"/>
          </a:xfrm>
          <a:prstGeom prst="line">
            <a:avLst/>
          </a:prstGeom>
          <a:noFill/>
          <a:ln w="17780">
            <a:solidFill>
              <a:srgbClr val="4BA7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6957" y="2537693"/>
            <a:ext cx="3256171" cy="49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Помнит историю диалога и может работать в контексте конкретного конспекта.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72262" y="1591056"/>
            <a:ext cx="3704626" cy="1598023"/>
          </a:xfrm>
          <a:prstGeom prst="roundRect">
            <a:avLst>
              <a:gd name="adj" fmla="val 551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3430" y="1978512"/>
            <a:ext cx="438706" cy="3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685494" y="1962342"/>
            <a:ext cx="2729724" cy="33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Генератор тестов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82573" y="2484991"/>
            <a:ext cx="3256171" cy="0"/>
          </a:xfrm>
          <a:prstGeom prst="line">
            <a:avLst/>
          </a:prstGeom>
          <a:noFill/>
          <a:ln w="17780">
            <a:solidFill>
              <a:srgbClr val="78E6B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82573" y="2537693"/>
            <a:ext cx="3256171" cy="49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Создает вопросы, варианты ответов и проверяет открытые ответы через AI.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0174" y="3392424"/>
            <a:ext cx="3704626" cy="1598023"/>
          </a:xfrm>
          <a:prstGeom prst="roundRect">
            <a:avLst>
              <a:gd name="adj" fmla="val 551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1342" y="3779880"/>
            <a:ext cx="438706" cy="3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123406" y="3763710"/>
            <a:ext cx="2729724" cy="33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Контесты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0485" y="4286359"/>
            <a:ext cx="3256171" cy="0"/>
          </a:xfrm>
          <a:prstGeom prst="line">
            <a:avLst/>
          </a:prstGeom>
          <a:noFill/>
          <a:ln w="17780">
            <a:solidFill>
              <a:srgbClr val="FFBA5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0485" y="4339061"/>
            <a:ext cx="3256171" cy="49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Генерирует задачи, примеры, скрытые тесты и позволяет запускать решения.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86646" y="3392424"/>
            <a:ext cx="3704626" cy="1598023"/>
          </a:xfrm>
          <a:prstGeom prst="roundRect">
            <a:avLst>
              <a:gd name="adj" fmla="val 551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7814" y="3779880"/>
            <a:ext cx="438706" cy="3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899878" y="3763710"/>
            <a:ext cx="2729724" cy="33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396957" y="4286359"/>
            <a:ext cx="3256171" cy="0"/>
          </a:xfrm>
          <a:prstGeom prst="line">
            <a:avLst/>
          </a:prstGeom>
          <a:noFill/>
          <a:ln w="17780">
            <a:solidFill>
              <a:srgbClr val="55E0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96957" y="4339061"/>
            <a:ext cx="3256171" cy="49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конспекты, тесты, чаты, контесты и статистику пользователя.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972262" y="3392424"/>
            <a:ext cx="3704626" cy="1598023"/>
          </a:xfrm>
          <a:prstGeom prst="roundRect">
            <a:avLst>
              <a:gd name="adj" fmla="val 551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73430" y="3779880"/>
            <a:ext cx="438706" cy="3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685494" y="3763710"/>
            <a:ext cx="2729724" cy="33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Авторизация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82573" y="4286359"/>
            <a:ext cx="3256171" cy="0"/>
          </a:xfrm>
          <a:prstGeom prst="line">
            <a:avLst/>
          </a:prstGeom>
          <a:noFill/>
          <a:ln w="17780">
            <a:solidFill>
              <a:srgbClr val="FF7E9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82573" y="4339061"/>
            <a:ext cx="3256171" cy="49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пользователя отдельные данные, история и прогресс.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это не просто “чат с ИИ”, а полноценная учебная платформа.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Конспекты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4691" y="86639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Фича для быстрого входа в тему и подготовки к контрольной.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3509" y="1316735"/>
            <a:ext cx="5199017" cy="4831515"/>
          </a:xfrm>
          <a:prstGeom prst="roundRect">
            <a:avLst>
              <a:gd name="adj" fmla="val 1633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7136" y="15179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генератор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1879092"/>
            <a:ext cx="5134356" cy="42280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Подстраивается под класс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например, 6 класс или 11 класс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Дает структуру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разделы, правила, термины, примеры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Выделяет важное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блоки с определениями, ошибками и советами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материал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конспект остается в профиле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 чат по теме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можно задавать вопросы именно по этому конспекту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37277" y="1517904"/>
            <a:ext cx="6450220" cy="3328416"/>
          </a:xfrm>
          <a:prstGeom prst="roundRect">
            <a:avLst>
              <a:gd name="adj" fmla="val 2198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526AA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6"/>
          <p:cNvSpPr/>
          <p:nvPr/>
        </p:nvSpPr>
        <p:spPr>
          <a:xfrm>
            <a:off x="5961888" y="494690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интерфейс проекта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87767" y="5504688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 для пользователя: меньше хаоса в подготовке — есть готовый материал и место, где его можно уточнить.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AI-чат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Помогает не просто получить ответ, а разобраться в теме.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1040" y="1353312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709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использования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19" y="2240280"/>
            <a:ext cx="4717869" cy="3550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Пояснить тему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простыми словами и по шагам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пример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 объяснением логики решения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Помочь с ошибкой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найти, где ученик запутался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Работать с историей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чат сохраняется и доступен в профиле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Связка с конспектом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вопросы задаются по конкретному материалу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46520" y="1481328"/>
            <a:ext cx="5029200" cy="4462272"/>
          </a:xfrm>
          <a:prstGeom prst="roundRect">
            <a:avLst>
              <a:gd name="adj" fmla="val 1639"/>
            </a:avLst>
          </a:prstGeom>
          <a:solidFill>
            <a:srgbClr val="061024"/>
          </a:solidFill>
          <a:ln w="12700">
            <a:solidFill>
              <a:srgbClr val="526A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логики чата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20840" y="23317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спрашивает: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6720840" y="2633472"/>
            <a:ext cx="4315968" cy="566928"/>
          </a:xfrm>
          <a:prstGeom prst="roundRect">
            <a:avLst>
              <a:gd name="adj" fmla="val 12903"/>
            </a:avLst>
          </a:prstGeom>
          <a:solidFill>
            <a:srgbClr val="111F42"/>
          </a:solidFill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9"/>
          <p:cNvSpPr/>
          <p:nvPr/>
        </p:nvSpPr>
        <p:spPr>
          <a:xfrm>
            <a:off x="6967728" y="2807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“Объясни дроби проще”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20840" y="3584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отвечает: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720840" y="3877056"/>
            <a:ext cx="4315968" cy="1024128"/>
          </a:xfrm>
          <a:prstGeom prst="roundRect">
            <a:avLst>
              <a:gd name="adj" fmla="val 7143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67728" y="4096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“Дробь показывает, на сколько равных частей разделили целое и сколько частей взяли…”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и самопроверка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изучения темы пользователь сразу проверяет понимание.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417320"/>
            <a:ext cx="4800600" cy="4480560"/>
          </a:xfrm>
          <a:prstGeom prst="roundRect">
            <a:avLst>
              <a:gd name="adj" fmla="val 1633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709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тестирование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19" y="2240280"/>
            <a:ext cx="4204063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вопросов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 выбранному предмету, классу и теме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форматы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варианты ответа + открытые вопросы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AI-проверка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оценивает ответ по смыслу, а не только по шаблону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сохраняются в истории профиля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ученик сразу видит, где слабые места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06440" y="15087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61024"/>
          </a:solidFill>
          <a:ln w="12700">
            <a:solidFill>
              <a:srgbClr val="526A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828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вопроса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264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Какая дробь является правильной?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2697480"/>
            <a:ext cx="4526280" cy="347472"/>
          </a:xfrm>
          <a:prstGeom prst="roundRect">
            <a:avLst>
              <a:gd name="adj" fmla="val 21053"/>
            </a:avLst>
          </a:prstGeom>
          <a:solidFill>
            <a:srgbClr val="111F42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78892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7/4</a:t>
            </a:r>
            <a:endParaRPr lang="en-US" sz="1170" dirty="0"/>
          </a:p>
        </p:txBody>
      </p:sp>
      <p:sp>
        <p:nvSpPr>
          <p:cNvPr id="13" name="Shape 10"/>
          <p:cNvSpPr/>
          <p:nvPr/>
        </p:nvSpPr>
        <p:spPr>
          <a:xfrm>
            <a:off x="6126480" y="3200400"/>
            <a:ext cx="4526280" cy="347472"/>
          </a:xfrm>
          <a:prstGeom prst="roundRect">
            <a:avLst>
              <a:gd name="adj" fmla="val 21053"/>
            </a:avLst>
          </a:prstGeom>
          <a:solidFill>
            <a:srgbClr val="163E46"/>
          </a:solidFill>
          <a:ln w="12700">
            <a:solidFill>
              <a:srgbClr val="78E6B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32918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78E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3/5</a:t>
            </a:r>
            <a:endParaRPr lang="en-US" sz="1170" dirty="0"/>
          </a:p>
        </p:txBody>
      </p:sp>
      <p:sp>
        <p:nvSpPr>
          <p:cNvPr id="15" name="Shape 12"/>
          <p:cNvSpPr/>
          <p:nvPr/>
        </p:nvSpPr>
        <p:spPr>
          <a:xfrm>
            <a:off x="6126480" y="3703320"/>
            <a:ext cx="4526280" cy="347472"/>
          </a:xfrm>
          <a:prstGeom prst="roundRect">
            <a:avLst>
              <a:gd name="adj" fmla="val 21053"/>
            </a:avLst>
          </a:prstGeom>
          <a:solidFill>
            <a:srgbClr val="111F42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79476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9/8</a:t>
            </a:r>
            <a:endParaRPr lang="en-US" sz="1170" dirty="0"/>
          </a:p>
        </p:txBody>
      </p:sp>
      <p:sp>
        <p:nvSpPr>
          <p:cNvPr id="17" name="Shape 14"/>
          <p:cNvSpPr/>
          <p:nvPr/>
        </p:nvSpPr>
        <p:spPr>
          <a:xfrm>
            <a:off x="6126480" y="4206240"/>
            <a:ext cx="4526280" cy="347472"/>
          </a:xfrm>
          <a:prstGeom prst="roundRect">
            <a:avLst>
              <a:gd name="adj" fmla="val 21053"/>
            </a:avLst>
          </a:prstGeom>
          <a:solidFill>
            <a:srgbClr val="111F42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4297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11/7</a:t>
            </a:r>
            <a:endParaRPr lang="en-US" sz="1170" dirty="0"/>
          </a:p>
        </p:txBody>
      </p:sp>
      <p:sp>
        <p:nvSpPr>
          <p:cNvPr id="19" name="Shape 16"/>
          <p:cNvSpPr/>
          <p:nvPr/>
        </p:nvSpPr>
        <p:spPr>
          <a:xfrm>
            <a:off x="6126480" y="493776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8357FF"/>
          </a:solidFill>
          <a:ln w="12700">
            <a:solidFill>
              <a:srgbClr val="8357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502462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ответ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Контесты по программированию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из самых сильных частей проекта: генерация задач и реальная проверка решений.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6784" y="1719072"/>
            <a:ext cx="6452616" cy="3447288"/>
          </a:xfrm>
          <a:prstGeom prst="roundRect">
            <a:avLst>
              <a:gd name="adj" fmla="val 2122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526AA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Text 3"/>
          <p:cNvSpPr/>
          <p:nvPr/>
        </p:nvSpPr>
        <p:spPr>
          <a:xfrm>
            <a:off x="591312" y="5281313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интерфейс проекта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720840" y="1417320"/>
            <a:ext cx="4709160" cy="4370832"/>
          </a:xfrm>
          <a:prstGeom prst="roundRect">
            <a:avLst>
              <a:gd name="adj" fmla="val 1674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95160" y="170078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умеет модуль контестов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022592" y="224028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задач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 теме, сложности и количеству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и тесты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для проверки решения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и C++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запуск пользовательского кода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Вердикты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OK, wrong answer, runtime error, timeout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приближает формат к реальному соревнованию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кода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запускает решение на тестах прямо на сайте.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417320"/>
            <a:ext cx="4407408" cy="4434840"/>
          </a:xfrm>
          <a:prstGeom prst="roundRect">
            <a:avLst>
              <a:gd name="adj" fmla="val 1660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Text 3"/>
          <p:cNvSpPr/>
          <p:nvPr/>
        </p:nvSpPr>
        <p:spPr>
          <a:xfrm>
            <a:off x="932688" y="1700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идет проверка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19" y="2240280"/>
            <a:ext cx="3907971" cy="33419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сохраняется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во временный файл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компилируется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через g++ или clang++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запускается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через текущий интерпретатор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сравнивается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 ожидаемым результатом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timeout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защита от зависания программы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1417320"/>
            <a:ext cx="5989320" cy="4096512"/>
          </a:xfrm>
          <a:prstGeom prst="roundRect">
            <a:avLst>
              <a:gd name="adj" fmla="val 1786"/>
            </a:avLst>
          </a:prstGeom>
          <a:solidFill>
            <a:srgbClr val="061024"/>
          </a:solidFill>
          <a:ln w="12700">
            <a:solidFill>
              <a:srgbClr val="526A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7190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результата проверки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60720" y="2240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 C++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60720" y="2615184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020817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816352"/>
            <a:ext cx="4956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5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a, b; cin &gt;&gt; a &gt;&gt; b;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a + b;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4224528"/>
            <a:ext cx="5440680" cy="384048"/>
          </a:xfrm>
          <a:prstGeom prst="roundRect">
            <a:avLst>
              <a:gd name="adj" fmla="val 19048"/>
            </a:avLst>
          </a:prstGeom>
          <a:solidFill>
            <a:srgbClr val="0E2733"/>
          </a:solidFill>
          <a:ln w="12700">
            <a:solidFill>
              <a:srgbClr val="78E6B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1888" y="4325112"/>
            <a:ext cx="4956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78E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1: OK  •  Тест 2: OK  •  Тест 3: OK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4828032"/>
            <a:ext cx="5440680" cy="384048"/>
          </a:xfrm>
          <a:prstGeom prst="roundRect">
            <a:avLst>
              <a:gd name="adj" fmla="val 19048"/>
            </a:avLst>
          </a:prstGeom>
          <a:solidFill>
            <a:srgbClr val="111F42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4928616"/>
            <a:ext cx="4956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ошибке показывается verdict: wrong_answer / timeout / runtime_error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5623560" y="5897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Плюс: ученик не просто читает теорию, а сразу практикуется и получает обратную связь.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и история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сохраняет результаты, чтобы обучение было не одноразовым.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45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1801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Конспекты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7552" y="21762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сохраненные материалы</a:t>
            </a:r>
            <a:endParaRPr lang="en-US" sz="1060" dirty="0"/>
          </a:p>
        </p:txBody>
      </p:sp>
      <p:sp>
        <p:nvSpPr>
          <p:cNvPr id="8" name="Shape 5"/>
          <p:cNvSpPr/>
          <p:nvPr/>
        </p:nvSpPr>
        <p:spPr>
          <a:xfrm>
            <a:off x="3520440" y="1645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85032" y="1801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B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85032" y="21762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диалогов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1801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8E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382512" y="21762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попытки и баллы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8915400" y="1645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79992" y="1801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B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Контесты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079992" y="21762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и решения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960120" y="324612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25880" y="358444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нужно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53312" y="4023360"/>
            <a:ext cx="9144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возвращается к материалам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не теряет созданные конспекты и тесты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 прогресс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результаты попыток и статистика остаются в профиле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Учеба становится системной</a:t>
            </a:r>
            <a:r>
              <a:rPr lang="en-US" sz="14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можно продолжить с того места, где остановился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база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уже собран как полноценное веб-приложение, а не просто демо-страница.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50876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80560" y="150876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83880" y="150876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5"/>
          <p:cNvSpPr/>
          <p:nvPr/>
        </p:nvSpPr>
        <p:spPr>
          <a:xfrm>
            <a:off x="1078992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56032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темная адаптивная UI-</a:t>
            </a:r>
            <a:r>
              <a:rPr lang="en-US" sz="1600" dirty="0" err="1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r>
              <a:rPr lang="ru-RU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шаблоны страниц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стиль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карточки, кнопки, навигация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82312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23460" y="2592977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маршруты и API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пользователи и история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AI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работа </a:t>
            </a:r>
            <a:r>
              <a:rPr lang="en-US" sz="1600" dirty="0" err="1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моделью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85632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и практика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03920" y="2514599"/>
            <a:ext cx="2606040" cy="261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4.1 mini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генерация контента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PDF-конспекты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запуск решений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C++/Python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проверка кода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712" y="148917"/>
            <a:ext cx="31025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Хранение информации в базе данных</a:t>
            </a:r>
            <a:endParaRPr lang="en-US" sz="280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135854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51AF9C8-741E-48CB-9E6A-69140C8BD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237" y="0"/>
            <a:ext cx="8737038" cy="693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0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Структура файлов проекта</a:t>
            </a:r>
            <a:endParaRPr lang="en-US" sz="280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51AF9C8-741E-48CB-9E6A-69140C8BDA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81359" y="734579"/>
            <a:ext cx="7829281" cy="58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5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Адаптация под мобильные устройства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0740" y="920062"/>
            <a:ext cx="6199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ru-RU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платформы был специально переработан для корректной работы на смартфонах и планшетах.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85978"/>
            <a:ext cx="6199632" cy="4251960"/>
          </a:xfrm>
          <a:prstGeom prst="roundRect">
            <a:avLst>
              <a:gd name="adj" fmla="val 1633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951153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8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Как реализована адаптация</a:t>
            </a:r>
            <a:endParaRPr lang="ru-RU" sz="18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32687" y="2295578"/>
            <a:ext cx="4657729" cy="335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111000"/>
            </a:pP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Гибкие блоки </a:t>
            </a:r>
            <a:r>
              <a:rPr lang="ru-RU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— элементы интерфейса автоматически перестраиваются под размер экрана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111000"/>
            </a:pPr>
            <a:r>
              <a:rPr lang="ru-RU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Упрощённая навигация </a:t>
            </a:r>
            <a:r>
              <a:rPr lang="ru-RU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— кнопки и меню оптимизированы для управления пальцем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111000"/>
            </a:pPr>
            <a:r>
              <a:rPr lang="ru-RU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Оптимизация контента </a:t>
            </a:r>
            <a:r>
              <a:rPr lang="ru-RU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— текст и интерфейсные элементы масштабируются без потери читаемости</a:t>
            </a:r>
          </a:p>
          <a:p>
            <a:pPr>
              <a:lnSpc>
                <a:spcPct val="150000"/>
              </a:lnSpc>
              <a:buClr>
                <a:srgbClr val="7030A0"/>
              </a:buClr>
              <a:buSzPct val="111000"/>
            </a:pPr>
            <a:r>
              <a:rPr lang="ru-RU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Минимизация нагрузки </a:t>
            </a:r>
            <a:r>
              <a:rPr lang="ru-RU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— снижено количество тяжёлых элементов для быстрой загрузки на мобильных устройствах</a:t>
            </a:r>
            <a:endParaRPr lang="en-US" sz="14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6028553-8346-4B45-9FCF-2410BDF64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19" y="710184"/>
            <a:ext cx="4828416" cy="54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20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проект выглядит сильным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 для пользователя и для портфолио разработчика.</a:t>
            </a:r>
            <a:endParaRPr lang="en-US" sz="1350" dirty="0"/>
          </a:p>
        </p:txBody>
      </p:sp>
      <p:pic>
        <p:nvPicPr>
          <p:cNvPr id="4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9260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50876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55627" y="1792223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пользователя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8992" y="2414015"/>
            <a:ext cx="4398264" cy="3263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готовиться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конспект и тест создаются за минуты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 понимать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чат объясняет тему человеческим языком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практики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контесты дают реальные задачи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сохраняется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можно вернуться к материалам позже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82512" y="150876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Text 6"/>
          <p:cNvSpPr/>
          <p:nvPr/>
        </p:nvSpPr>
        <p:spPr>
          <a:xfrm>
            <a:off x="6693408" y="1828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проекта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757416" y="2361763"/>
            <a:ext cx="4398264" cy="336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банальный AI-чат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есть несколько связанных модулей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backend-логика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база, сессии, API, сохранение данных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сложная фича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проверка кода и контесты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b="1" dirty="0">
                <a:solidFill>
                  <a:srgbClr val="8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продуктовый потенциал</a:t>
            </a:r>
            <a:r>
              <a:rPr lang="en-US" sz="16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можно развивать в публичный сервис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antom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3" y="448056"/>
            <a:ext cx="2148840" cy="2148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0" y="11704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456432" y="18745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— открыть доступ к сайту, проверить продукт на реальных пользователях и усилить ключевые модули.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623022" y="2880360"/>
            <a:ext cx="2923467" cy="1554480"/>
          </a:xfrm>
          <a:prstGeom prst="roundRect">
            <a:avLst>
              <a:gd name="adj" fmla="val 6061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24191" y="3315947"/>
            <a:ext cx="478386" cy="423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336255" y="3304309"/>
            <a:ext cx="1860388" cy="35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оценок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24191" y="3689604"/>
            <a:ext cx="2434451" cy="0"/>
          </a:xfrm>
          <a:prstGeom prst="line">
            <a:avLst/>
          </a:prstGeom>
          <a:noFill/>
          <a:ln w="17780">
            <a:solidFill>
              <a:srgbClr val="4BA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67529" y="3789455"/>
            <a:ext cx="2434451" cy="37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ru-RU" sz="11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для умного анализа отметок и прогнозирования результата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01938" y="2886891"/>
            <a:ext cx="2923467" cy="1554480"/>
          </a:xfrm>
          <a:prstGeom prst="roundRect">
            <a:avLst>
              <a:gd name="adj" fmla="val 6061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  <p:txBody>
          <a:bodyPr/>
          <a:lstStyle/>
          <a:p>
            <a:endParaRPr lang="ru-RU" sz="2000" dirty="0"/>
          </a:p>
        </p:txBody>
      </p:sp>
      <p:sp>
        <p:nvSpPr>
          <p:cNvPr id="11" name="Text 8"/>
          <p:cNvSpPr/>
          <p:nvPr/>
        </p:nvSpPr>
        <p:spPr>
          <a:xfrm>
            <a:off x="5903106" y="3322478"/>
            <a:ext cx="595325" cy="423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ru-RU" sz="2000" dirty="0"/>
              <a:t>💸</a:t>
            </a:r>
            <a:endParaRPr lang="en-US" sz="1400" b="1" dirty="0">
              <a:solidFill>
                <a:srgbClr val="F4F7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15171" y="3310840"/>
            <a:ext cx="1860388" cy="35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03106" y="3708109"/>
            <a:ext cx="2434451" cy="0"/>
          </a:xfrm>
          <a:prstGeom prst="line">
            <a:avLst/>
          </a:prstGeom>
          <a:noFill/>
          <a:ln w="17780">
            <a:solidFill>
              <a:srgbClr val="FF7E9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03106" y="3834738"/>
            <a:ext cx="2434451" cy="37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rgbClr val="BB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и монетизация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80853" y="2880360"/>
            <a:ext cx="2923467" cy="1554480"/>
          </a:xfrm>
          <a:prstGeom prst="roundRect">
            <a:avLst>
              <a:gd name="adj" fmla="val 6061"/>
            </a:avLst>
          </a:prstGeom>
          <a:solidFill>
            <a:srgbClr val="0C1936"/>
          </a:solidFill>
          <a:ln w="12700">
            <a:solidFill>
              <a:srgbClr val="3145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82022" y="3315947"/>
            <a:ext cx="478386" cy="423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494086" y="3304309"/>
            <a:ext cx="1860388" cy="35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rgbClr val="F4F7FF"/>
                </a:solidFill>
                <a:latin typeface="Arial" pitchFamily="34" charset="0"/>
                <a:cs typeface="Arial" pitchFamily="34" charset="-120"/>
              </a:rPr>
              <a:t>Экосистема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91165" y="3708109"/>
            <a:ext cx="2434451" cy="0"/>
          </a:xfrm>
          <a:prstGeom prst="line">
            <a:avLst/>
          </a:prstGeom>
          <a:noFill/>
          <a:ln w="17780">
            <a:solidFill>
              <a:srgbClr val="78E6B7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9" name="Text 16"/>
          <p:cNvSpPr/>
          <p:nvPr/>
        </p:nvSpPr>
        <p:spPr>
          <a:xfrm>
            <a:off x="8991165" y="3832543"/>
            <a:ext cx="2434451" cy="37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rgbClr val="BBC7E8"/>
                </a:solidFill>
                <a:latin typeface="Arial" pitchFamily="34" charset="0"/>
                <a:cs typeface="Arial" pitchFamily="34" charset="-120"/>
              </a:rPr>
              <a:t>Собрать все возможности воедино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3000" y="50063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PhantomHelper AI — это учебный продукт, который уже объединяет генерацию, объяснение, проверку и практику.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15568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79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6427422-0726-3859-0010-55C4EF275620}"/>
              </a:ext>
            </a:extLst>
          </p:cNvPr>
          <p:cNvSpPr/>
          <p:nvPr/>
        </p:nvSpPr>
        <p:spPr>
          <a:xfrm>
            <a:off x="6438031" y="3336313"/>
            <a:ext cx="1860388" cy="35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1181</Words>
  <Application>Microsoft Macintosh PowerPoint</Application>
  <PresentationFormat>Широкоэкранный</PresentationFormat>
  <Paragraphs>165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PhantomHelper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PhantomHelper AI</dc:title>
  <dc:subject>Product presentation</dc:subject>
  <dc:creator>PhantomHelper AI</dc:creator>
  <cp:lastModifiedBy>Илья</cp:lastModifiedBy>
  <cp:revision>15</cp:revision>
  <dcterms:created xsi:type="dcterms:W3CDTF">2026-04-29T08:06:06Z</dcterms:created>
  <dcterms:modified xsi:type="dcterms:W3CDTF">2026-04-30T15:12:44Z</dcterms:modified>
</cp:coreProperties>
</file>